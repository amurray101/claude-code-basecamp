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41413"/>
                </a:solidFill>
                <a:latin typeface="Calibri"/>
              </a:defRPr>
            </a:pPr>
            <a:r>
              <a:t>Claude Code Basecamp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A685E"/>
                </a:solidFill>
                <a:latin typeface="Calibri"/>
              </a:defRPr>
            </a:pPr>
            <a:r>
              <a:t>Five days to technical fluency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AEA5"/>
                </a:solidFill>
                <a:latin typeface="Calibri"/>
              </a:defRPr>
            </a:pPr>
            <a:r>
              <a:t>Facilitator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06240"/>
            <a:ext cx="1828800" cy="457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Taught by [Facilitator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97757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41413"/>
                </a:solidFill>
                <a:latin typeface="Calibri"/>
              </a:defRPr>
            </a:pPr>
            <a:r>
              <a:t>First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A685E"/>
                </a:solidFill>
                <a:latin typeface="Calibri"/>
              </a:defRPr>
            </a:pPr>
            <a:r>
              <a:t>Getting started with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06240"/>
            <a:ext cx="2286000" cy="457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Agentic Difference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Calibri"/>
              </a:defRPr>
            </a:pPr>
            <a:r>
              <a:t>Autocomplete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Suggest code line-by-line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You accept or reject each suggestion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Reactive — waits for your cursor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Works within a single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18288" cy="4114800"/>
          </a:xfrm>
          <a:prstGeom prst="rect">
            <a:avLst/>
          </a:prstGeom>
          <a:solidFill>
            <a:srgbClr val="B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Calibri"/>
              </a:defRPr>
            </a:pPr>
            <a:r>
              <a:t>Agentic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Describe the outcome you want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Claude plans, then executes across files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Proactive — reads your whole codebase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Runs tests, iterates, self-corrects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97757"/>
                </a:solidFill>
                <a:latin typeface="Calibri"/>
              </a:defRPr>
            </a:pPr>
            <a:r>
              <a:t>"Claude Code reads your codebase, plans changes, edits multiple files, runs tests — it's a colleague, not a clipboard."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Agentic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Read context — package.json, directory structure, CLAUDE.md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Plan approach — decide which files to touch, what strategy to use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Execute changes — edit files, create new ones, update imports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4.  Verify results — run tests, lint, type-check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5.  Iterate — fix failures, refine until green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Claude reads your project BEFORE you type anything.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Every response is grounded in your actual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Two Surfaces, One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Calibri"/>
              </a:defRPr>
            </a:pPr>
            <a:r>
              <a:t>CLI (Terminal)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Raw speed — launch and go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Scriptable — pipe inputs, chain commands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CI/CD integration — automate workflows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Perfect for power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18288" cy="4114800"/>
          </a:xfrm>
          <a:prstGeom prst="rect">
            <a:avLst/>
          </a:prstGeom>
          <a:solidFill>
            <a:srgbClr val="B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57"/>
                </a:solidFill>
                <a:latin typeface="Calibri"/>
              </a:defRPr>
            </a:pPr>
            <a:r>
              <a:t>IDE (VS Code / JetBrains)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Inline diffs — see changes in context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Visual file tree — navigate with clicks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Familiar UX — feels like your editor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Perfect for visual thinkers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97757"/>
                </a:solidFill>
                <a:latin typeface="Calibri"/>
              </a:defRPr>
            </a:pPr>
            <a:r>
              <a:t>Same agentic engine underneath. Choose the surface that fits your style.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Live Demo: Install + First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Facilitator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Install the CLI:  npm install -g @anthropic-ai/claude-code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Authenticate:  claude  (follow browser prompt)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Clone sample repo, cd into it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4.  Launch Claude Code:  claude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5.  Give it a real task: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  "Add a /health endpoint that returns { status: ok, uptime: ... }.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   Include unit tests."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6.  Watch the agentic loop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Discussion: What Did You Notice?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Group discussion —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files did Claude read first?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How did it decide what to change?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How did it verify its own work?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How does this compare to Copilot or ChatGPT?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surprised you?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A9BCC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41413"/>
                </a:solidFill>
                <a:latin typeface="Calibri"/>
              </a:defRPr>
            </a:pPr>
            <a:r>
              <a:t>Prompt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A685E"/>
                </a:solidFill>
                <a:latin typeface="Calibri"/>
              </a:defRPr>
            </a:pPr>
            <a:r>
              <a:t>CLAUDE.md, context management, and the art of steering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06240"/>
            <a:ext cx="2286000" cy="45720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Before &amp; After: The CLAUDE.md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A9BCC"/>
                </a:solidFill>
                <a:latin typeface="Calibri"/>
              </a:defRPr>
            </a:pPr>
            <a:r>
              <a:t>Without CLAUDE.md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Claude guesses your conventions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Inconsistent naming, style, patterns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May pick wrong test framework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Ignores team-specific rules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Output feels generic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18288" cy="4114800"/>
          </a:xfrm>
          <a:prstGeom prst="rect">
            <a:avLst/>
          </a:prstGeom>
          <a:solidFill>
            <a:srgbClr val="B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A9BCC"/>
                </a:solidFill>
                <a:latin typeface="Calibri"/>
              </a:defRPr>
            </a:pPr>
            <a:r>
              <a:t>With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Claude follows your patterns exactly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Consistent naming, style, structure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Uses your test framework + conventions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Respects team-specific rules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Output feels like a team member wrote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A9BCC"/>
                </a:solidFill>
                <a:latin typeface="Calibri"/>
              </a:defRPr>
            </a:pPr>
            <a:r>
              <a:t>CLAUDE.md is the single most important configuration surface.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Anatomy of a CLAUDE.md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# Architecture — What does the system look like? Key modules, data flow.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# Conventions — Naming, file structure, import order, error handling.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# Testing — Framework, patterns, where tests live, how to run them.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# Before Committing — Lint, type-check, test commands to run.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Each section grounds Claude in YOUR team's way of working.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Think of it as onboarding docs — for your AI colleague.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Live Demo: Writing a CLAUDE.md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Facilitator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Open a messy repo (no CLAUDE.md yet)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Ask Claude to make a change — observe inconsistencies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Write a CLAUDE.md together: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  Architecture, Conventions, Testing, Before Committing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4.  Ask Claude the same task again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5.  Compare output quality — before vs. after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The difference is dramatic. Show it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Session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Essential commands for staying effective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/compact — Summarize conversation to save context window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Use when: session is getting long, Claude starts repeating itself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/clear — Reset the conversation completely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Use when: switching to a new task, context is polluted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/cost — Check token usage and spend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Use when: monitoring costs, before/after comparisons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Long sessions degrade quality. Compact early, compact often.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Plan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Prefix any prompt with "plan:" to think before acting.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Claude will outline its approach WITHOUT making changes.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Perfect for: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Complex, multi-file refactors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Customer demos (shows reasoning without risk)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Building trust with skeptical engineers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Reviewing strategy before committing to execution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"plan: How would you migrate this Express app to Fastify?"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Prompt Patterns That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A9BCC"/>
                </a:solidFill>
                <a:latin typeface="Calibri"/>
              </a:defRPr>
            </a:pPr>
            <a:r>
              <a:t>Too Vague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"Refactor src/utils"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"Fix the tests"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"Make it faster"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"Clean this up"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645920"/>
            <a:ext cx="18288" cy="4114800"/>
          </a:xfrm>
          <a:prstGeom prst="rect">
            <a:avLst/>
          </a:prstGeom>
          <a:solidFill>
            <a:srgbClr val="B0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6A9BCC"/>
                </a:solidFill>
                <a:latin typeface="Calibri"/>
              </a:defRPr>
            </a:pPr>
            <a:r>
              <a:t>Specific &amp; Actionable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"Refactor src/utils/helpers.js to use async/await,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  add JSDoc, write co-located tests per CLAUDE.md"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"Fix the failing test in auth.test.ts — the mock</a:t>
            </a:r>
          </a:p>
          <a:p>
            <a:pPr>
              <a:lnSpc>
                <a:spcPts val="2295"/>
              </a:lnSpc>
              <a:spcBef>
                <a:spcPts val="200"/>
              </a:spcBef>
              <a:spcAft>
                <a:spcPts val="600"/>
              </a:spcAft>
              <a:defRPr sz="1700">
                <a:solidFill>
                  <a:srgbClr val="141413"/>
                </a:solidFill>
                <a:latin typeface="Calibri"/>
              </a:defRPr>
            </a:pPr>
            <a:r>
              <a:t>  is returning undefined instead of a user object"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9BCC"/>
                </a:solidFill>
                <a:latin typeface="Calibri"/>
              </a:defRPr>
            </a:pPr>
            <a:r>
              <a:t>Specificity is kindness. The more context you give, the better the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Common Anti-Patterns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Over-prompting — Giving Claude 15 constraints at once. It loses focus.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Under-specifying — "Make it better" gives Claude nothing to work with.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Ignoring CLAUDE.md — Your best leverage, unused.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Never compacting — Long sessions = degraded quality. Use /compact.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Copy-pasting code into the prompt — Claude already has your files.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Just reference them by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Discussion: Your Team's Conventions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6A9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Group discussion —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conventions would you codify in a CLAUDE.md?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patterns does your team argue about most?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How does CLAUDE.md change the customer conversation?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(Hint: it's not just for developers — it's a governance tool)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would you put in your customer's first CLAUDE.md?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88C5D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41413"/>
                </a:solidFill>
                <a:latin typeface="Calibri"/>
              </a:defRPr>
            </a:pPr>
            <a:r>
              <a:t>Extend &amp; Customize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A685E"/>
                </a:solidFill>
                <a:latin typeface="Calibri"/>
              </a:defRPr>
            </a:pPr>
            <a:r>
              <a:t>Hooks, MCP, and the integration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06240"/>
            <a:ext cx="2286000" cy="45720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Integration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Three extension points that make Claude Code enterprise-ready: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HOOKS  (Guardrails)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Control what Claude does — enforce quality gates automatically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MCP  (Connections)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Connect Claude to external tools — Jira, Slack, Datadog, APIs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SLASH COMMANDS  (Workflows)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Team-shareable procedures — define once, everyone inherits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Together: guardrails + connections + workflows = enterprise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Hooks: Automated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Pre-commit hooks — Run before any commit: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Lint, type-check, run tests, validate formatting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Post-edit hooks — Run after Claude edits files: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Run related tests, check for regressions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Why enterprise customers love this: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Quality gates that enforce themselves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No human in the loop needed for standards compliance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Same rules for every developer — and for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Live Demo: Hooks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Facilitator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Claude makes a change that introduces a bug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Claude tries to commit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Pre-commit hook catches failing test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4.  Claude reads the failure, auto-fixes the bug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5.  Claude retries the commit — tests pass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The agentic loop is self-correcting.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Hooks make the loop reliable.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MCP: Connecting Claude to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Model Context Protocol — a standard for tool connections.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MCP servers connect Claude to: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Jira / Linear — pull ticket context, update status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Slack — read threads, post updates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Datadog — query metrics, check alerts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Confluence — read docs, architecture diagrams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Internal APIs — any REST/GraphQL endpoint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Claude discovers available tools dynamically.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Setup pattern is the same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Live Demo: MCP + Jira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Facilitator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Connect Claude to Jira via MCP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"Pull the details for PROJ-1234"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Claude reads ticket: requirements, acceptance criteria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4.  Claude implements the feature, guided by ticket context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5.  Claude runs tests, commits with ticket reference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Developer never leaves the terminal.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Context flows from tool to code to commit.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Slash Commands: Team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Defined in .claude/commands/ — shared via git.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Tech lead defines once, entire team inherits: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/deploy-check — Pre-deployment checklist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/review — Code review against team standards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/onboard — Set up a new developer's environment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/incident — Investigate a production issue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Workflows become versioned, reviewable,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Composed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The full enterprise loop: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MCP pulls ticket context from Jira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Claude implements the feature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Hooks enforce quality gates (lint, test, type-check)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4.  Slash command runs pre-deploy checklist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5.  Code is committed with ticket reference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This is the enterprise pitch: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Context → Implementation → Quality → Deployment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Automated, auditable,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Discussion: Your Customer's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Group discussion —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MCP servers would your customer need?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hooks would they want on day one?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slash commands would save their team the most time?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How would you pitch the composed workflow?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97757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41413"/>
                </a:solidFill>
                <a:latin typeface="Calibri"/>
              </a:defRPr>
            </a:pPr>
            <a:r>
              <a:t>Customer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A685E"/>
                </a:solidFill>
                <a:latin typeface="Calibri"/>
              </a:defRPr>
            </a:pPr>
            <a:r>
              <a:t>Security, deployment, and competitive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06240"/>
            <a:ext cx="2286000" cy="457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Three Conversations, Three Playbooks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Today's format: paired role-plays with facilitator coaching.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CISO Conversation — Security architecture and trust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VP Engineering Conversation — Deployment, cost, and ROI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Engineering Manager Conversation — Competitive positioning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25 minutes each, then rotate. Real objections, real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Security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Build confidence layer by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Layers of defense, bottom to top: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OS-Level Sandboxing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Network disabled by default. Filesystem restricted.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Tool-Level Permissions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Claude asks before running bash, editing files outside project.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Team-Level Hooks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Pre-commit gates enforce standards automatically.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Admin-Level Managed Settings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Organization-wide policies, centrally controlled.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Key Security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Sandboxing — Network disabled by default, filesystem restricted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Permissions — Claude asks before bash execution, file edits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Data — No training on API inputs. SOC 2 Type II certified.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Trust Center — trust.anthropic.com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Key message for CISOs: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"We built the security model for the most cautious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organizations. Every layer is opt-in and auditable."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Deployment options: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Direct API — Fastest to start, Anthropic-hosted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AWS Bedrock — Data stays in your AWS account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Google Vertex — Data stays in your GCP project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Azure Foundry — Data stays in your Azure subscription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Decision framework: data residency, existing cloud provider,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compliance requirements, procurement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Cost Math That Lands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Average cost: ~$6 per developer per day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200 developers  x  $6/day  =  $1,200/day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If each dev saves just 1 hour: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200  x  $150/hour  =  $30,000/day recovered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That's a 25x ROI.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Reframe the question: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"What does NOT having this cost you — in velocity,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in developer retention, in competitive speed?"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NOT "Claude Code vs. Copilot."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Copilot = line-level autocomplete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Excellent at what it does. Fast, lightweight, familiar.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Claude Code = project-level agentic coding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Different paradigm. Plans, executes, verifies across files.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They often coexist. The real question: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"What can your team do now that they couldn't before?"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Shift from tools to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Role-Play Briefing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Paired role-plays with facilitator coaching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Three scenarios — 25 minutes each, then rotate: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1.  Nova Insurance — CISO concerned about data handling,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 model access to source code, and compliance posture.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2.  Atlas Manufacturing — VP Engineering evaluating deployment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 options, cost model, and rollout strategy for 500 devs.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3.  Prism Analytics — Engineering Manager comparing Claude Code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  to existing Copilot deployment. Team is skeptical.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Partner up. One plays customer, one plays Anthropic.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Debrief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A685E"/>
                </a:solidFill>
                <a:latin typeface="Calibri"/>
              </a:defRPr>
            </a:pPr>
            <a:r>
              <a:t>Group debrief —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Which objections were hardest to handle?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Where were you most confident?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do you need to practice before doing this live?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would you change about your approach?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What questions did you not have answers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88C5D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41413"/>
                </a:solidFill>
                <a:latin typeface="Calibri"/>
              </a:defRPr>
            </a:pPr>
            <a:r>
              <a:t>Ship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A685E"/>
                </a:solidFill>
                <a:latin typeface="Calibri"/>
              </a:defRPr>
            </a:pPr>
            <a:r>
              <a:t>Blind brief to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206240"/>
            <a:ext cx="2286000" cy="45720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The Capstone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Brief distribution                              0:00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Analysis — understand the customer              0:15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Build — create your demo with Claude Code       0:30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Prep — rehearse your presentation               1:15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Presentations — 10 min each                     1:25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Feedback + scoring                              2:00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Everything you've learned this week — applied.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What Great Demos Look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Start with THEIR problem, not your solution.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Limit to 3-4 features. Depth over breadth.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Build for reliability, not flash.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If it might break, cut it.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Test twice before presenting.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Once for functionality, once for flow.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Show the agentic loop — let them see Claude think.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Presentation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10 minutes total: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Problem Framing  (2 min)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"Here's what we heard. Here's what matters to you."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Live Demo  (6 min)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Show Claude solving their actual problem. Narrate the loop.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Next Steps + Rollout Plan  (2 min)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Concrete actions. Pilot size, timeline, success metrics.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Lead with empathy. Close with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1413"/>
                </a:solidFill>
                <a:latin typeface="Calibri"/>
              </a:defRPr>
            </a:pPr>
            <a:r>
              <a:t>Scoring Rubric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9728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Cohort scores each presentation on four dimensions: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Problem Framing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Did you understand their world?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Technical Depth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Did your demo actually work?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Relevance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Did it map to their specific pain points?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Confidence</a:t>
            </a:r>
          </a:p>
          <a:p>
            <a:pPr>
              <a:lnSpc>
                <a:spcPts val="2565"/>
              </a:lnSpc>
              <a:spcBef>
                <a:spcPts val="200"/>
              </a:spcBef>
              <a:spcAft>
                <a:spcPts val="600"/>
              </a:spcAft>
              <a:defRPr sz="1900">
                <a:solidFill>
                  <a:srgbClr val="141413"/>
                </a:solidFill>
                <a:latin typeface="Calibri"/>
              </a:defRPr>
            </a:pPr>
            <a:r>
              <a:t>  Did you handle questions smoothly?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41413"/>
                </a:solidFill>
                <a:latin typeface="Calibri"/>
              </a:defRPr>
            </a:pPr>
            <a:r>
              <a:t>Go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A685E"/>
                </a:solidFill>
                <a:latin typeface="Calibri"/>
              </a:defRPr>
            </a:pPr>
            <a:r>
              <a:t>Briefs distributed. Timer 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88C5D"/>
                </a:solidFill>
                <a:latin typeface="Calibri"/>
              </a:defRPr>
            </a:pPr>
            <a:r>
              <a:t>Good luck.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41413"/>
                </a:solidFill>
                <a:latin typeface="Calibri"/>
              </a:defRPr>
            </a:pPr>
            <a:r>
              <a:t>You're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A685E"/>
                </a:solidFill>
                <a:latin typeface="Calibri"/>
              </a:defRPr>
            </a:pPr>
            <a:r>
              <a:t>Claude Code Basecamp —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023360"/>
            <a:ext cx="1828800" cy="457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AEA5"/>
                </a:solidFill>
                <a:latin typeface="Calibri"/>
              </a:defRPr>
            </a:pPr>
            <a:r>
              <a:t>anthropic.com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CLAUDE CODE BASECAMP  |  Becoming an Anthropic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0AEA5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